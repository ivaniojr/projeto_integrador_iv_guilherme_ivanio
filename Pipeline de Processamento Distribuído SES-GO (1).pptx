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jpg"/><Relationship Id="rId5" Type="http://schemas.openxmlformats.org/officeDocument/2006/relationships/image" Target="../media/image21.png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9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Relationship Id="rId8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620440" y="1810791"/>
            <a:ext cx="89511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AEEF"/>
                </a:solidFill>
                <a:latin typeface="Poppins"/>
                <a:ea typeface="Poppins"/>
                <a:cs typeface="Poppins"/>
                <a:sym typeface="Poppins"/>
              </a:rPr>
              <a:t>PROJETO INTEGRADOR IV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620440" y="2182266"/>
            <a:ext cx="8951118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234E"/>
                </a:solidFill>
                <a:latin typeface="Poppins"/>
                <a:ea typeface="Poppins"/>
                <a:cs typeface="Poppins"/>
                <a:sym typeface="Poppins"/>
              </a:rPr>
              <a:t>Pipeline de Processamento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0234E"/>
                </a:solidFill>
                <a:latin typeface="Poppins"/>
                <a:ea typeface="Poppins"/>
                <a:cs typeface="Poppins"/>
                <a:sym typeface="Poppins"/>
              </a:rPr>
              <a:t> Distribuído SES-GO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3808958"/>
            <a:ext cx="952500" cy="381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833562" y="4132808"/>
            <a:ext cx="8524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Guilherme Avelino Gomes | Ivânio José da Rocha Júnior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833562" y="4618583"/>
            <a:ext cx="8524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34E"/>
                </a:solidFill>
                <a:latin typeface="Lato"/>
                <a:ea typeface="Lato"/>
                <a:cs typeface="Lato"/>
                <a:sym typeface="Lato"/>
              </a:rPr>
              <a:t>PUC Goiás - Big Data e Inteligência Artificial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34E"/>
                </a:solidFill>
                <a:latin typeface="Poppins"/>
                <a:ea typeface="Poppins"/>
                <a:cs typeface="Poppins"/>
                <a:sym typeface="Poppins"/>
              </a:rPr>
              <a:t>O Desafio do Big Data Governamental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571500"/>
            <a:ext cx="47625" cy="52387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005137"/>
            <a:ext cx="44196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0AEEF"/>
                </a:solidFill>
                <a:latin typeface="Poppins"/>
                <a:ea typeface="Poppins"/>
                <a:cs typeface="Poppins"/>
                <a:sym typeface="Poppins"/>
              </a:rPr>
              <a:t>1.4M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433887"/>
            <a:ext cx="4419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34E"/>
                </a:solidFill>
                <a:latin typeface="Lato"/>
                <a:ea typeface="Lato"/>
                <a:cs typeface="Lato"/>
                <a:sym typeface="Lato"/>
              </a:rPr>
              <a:t>Registros Históricos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467350" y="2876550"/>
            <a:ext cx="646080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34E"/>
                </a:solidFill>
                <a:latin typeface="Poppins"/>
                <a:ea typeface="Poppins"/>
                <a:cs typeface="Poppins"/>
                <a:sym typeface="Poppins"/>
              </a:rPr>
              <a:t>Escalabilidade e Complexidade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467350" y="3152775"/>
            <a:ext cx="61531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O processamento manual de dados financeiros da SES-GO tornou-se inviável devido ao volume acumulado (2003-2026).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543550" y="38766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657850" y="3876675"/>
            <a:ext cx="5962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Carga Diária: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177 arquivos (~1.5GB).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543550" y="41624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657850" y="4162425"/>
            <a:ext cx="5962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Formatos: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Arquivos .txt de posição fixa.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543550" y="44481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657850" y="4448175"/>
            <a:ext cx="5962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Gargalo: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Lentidão em ferramentas tradicionais (Excel/SQL simples).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62000" y="1733550"/>
            <a:ext cx="50006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34E"/>
                </a:solidFill>
                <a:latin typeface="Poppins"/>
                <a:ea typeface="Poppins"/>
                <a:cs typeface="Poppins"/>
                <a:sym typeface="Poppins"/>
              </a:rPr>
              <a:t>Arquitetura Cloud PaaS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1733550"/>
            <a:ext cx="47625" cy="52387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263842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Implementação baseada em serviços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Microsoft Azure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, garantindo alta disponibilidade e modularidade para o Estado.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3638550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Adoção da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Medallion Architecture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47700" y="40957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409575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Bronze: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Dados brutos (.txt) em ADLS.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47700" y="43815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62000" y="438150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Silver: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Dados processados e tipados.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47700" y="46672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62000" y="466725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Consumo: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Camada de negócio para BI.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38362"/>
            <a:ext cx="53340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38362"/>
            <a:ext cx="53340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71937"/>
            <a:ext cx="53340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071937"/>
            <a:ext cx="533400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34E"/>
                </a:solidFill>
                <a:latin typeface="Poppins"/>
                <a:ea typeface="Poppins"/>
                <a:cs typeface="Poppins"/>
                <a:sym typeface="Poppins"/>
              </a:rPr>
              <a:t>Engenharia de Dados com PySpark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47625" cy="52387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857250" y="2424112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AEEF"/>
                </a:solidFill>
                <a:latin typeface="Poppins"/>
                <a:ea typeface="Poppins"/>
                <a:cs typeface="Poppins"/>
                <a:sym typeface="Poppins"/>
              </a:rPr>
              <a:t>Schema on Read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57250" y="2738437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Definição de tipagem rigorosa no momento da ingestão, eliminando erros de fatiamento de strings.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572250" y="2424112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AEEF"/>
                </a:solidFill>
                <a:latin typeface="Poppins"/>
                <a:ea typeface="Poppins"/>
                <a:cs typeface="Poppins"/>
                <a:sym typeface="Poppins"/>
              </a:rPr>
              <a:t>Fixed-Width Parsing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572250" y="2738437"/>
            <a:ext cx="4762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Uso da função substring do Spark para decompor tripa de texto de forma paralela.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57250" y="4357687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AEEF"/>
                </a:solidFill>
                <a:latin typeface="Poppins"/>
                <a:ea typeface="Poppins"/>
                <a:cs typeface="Poppins"/>
                <a:sym typeface="Poppins"/>
              </a:rPr>
              <a:t>Joins Complexos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57250" y="4672012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Cruzamento entre DUEOF e Liquidação (Tipos D e M) para consolidação de saldos únicos.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572250" y="4357687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AEEF"/>
                </a:solidFill>
                <a:latin typeface="Poppins"/>
                <a:ea typeface="Poppins"/>
                <a:cs typeface="Poppins"/>
                <a:sym typeface="Poppins"/>
              </a:rPr>
              <a:t>Acurácia Financeira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572250" y="4672012"/>
            <a:ext cx="47625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Implementação de DecimalType(18, 2) para evitar perdas de precisão decimal.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471737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2250" y="2471737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4405312"/>
            <a:ext cx="23812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/>
          <p:cNvPicPr preferRelativeResize="0"/>
          <p:nvPr/>
        </p:nvPicPr>
        <p:blipFill rotWithShape="1">
          <a:blip r:embed="rId4">
            <a:alphaModFix/>
          </a:blip>
          <a:srcRect b="10354" l="0" r="0" t="10362"/>
          <a:stretch/>
        </p:blipFill>
        <p:spPr>
          <a:xfrm>
            <a:off x="571500" y="1976437"/>
            <a:ext cx="4805660" cy="3810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3410" y="3757612"/>
            <a:ext cx="264021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3410" y="4576762"/>
            <a:ext cx="254793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34E"/>
                </a:solidFill>
                <a:latin typeface="Poppins"/>
                <a:ea typeface="Poppins"/>
                <a:cs typeface="Poppins"/>
                <a:sym typeface="Poppins"/>
              </a:rPr>
              <a:t>Performance e Otimização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571500" y="571500"/>
            <a:ext cx="47625" cy="52387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5853410" y="2471737"/>
            <a:ext cx="6055444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34E"/>
                </a:solidFill>
                <a:latin typeface="Poppins"/>
                <a:ea typeface="Poppins"/>
                <a:cs typeface="Poppins"/>
                <a:sym typeface="Poppins"/>
              </a:rPr>
              <a:t>Eliminação de Gargalos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853410" y="2938462"/>
            <a:ext cx="576708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O uso estratégico da memória RAM transforma o tempo de resposta do pipeline: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260306" y="3652837"/>
            <a:ext cx="5360193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Caching: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O comando .cache() fixa os dados na RAM, permitindo transformações instantâneas.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251078" y="4481512"/>
            <a:ext cx="536942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Processamento Paralelo: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A carga é distribuída entre todos os núcleos do cluster simultaneamente.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34E"/>
                </a:solidFill>
                <a:latin typeface="Poppins"/>
                <a:ea typeface="Poppins"/>
                <a:cs typeface="Poppins"/>
                <a:sym typeface="Poppins"/>
              </a:rPr>
              <a:t>Escalabilidade da Solução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571500"/>
            <a:ext cx="47625" cy="52387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5286375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Crescimento Linear de Registros: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A arquitetura PaaS permite escalar horizontalmente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o cluster Spark para suportar o crescimento da base histórica sem perda de performance.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8525" y="4105275"/>
            <a:ext cx="253365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57925" y="4105275"/>
            <a:ext cx="249555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1595437" y="1609725"/>
            <a:ext cx="900112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AEEF"/>
                </a:solidFill>
                <a:latin typeface="Poppins"/>
                <a:ea typeface="Poppins"/>
                <a:cs typeface="Poppins"/>
                <a:sym typeface="Poppins"/>
              </a:rPr>
              <a:t>Inteligência de Negócio (Power BI)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809750" y="2524125"/>
            <a:ext cx="85725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Monitoramento gerencial com visualização de saldos em tempo real, proporcionando acurácia e transparência total à gestão da Secretaria de Saúde.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3829050" y="4305300"/>
            <a:ext cx="1752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AEEF"/>
                </a:solidFill>
                <a:latin typeface="Lato"/>
                <a:ea typeface="Lato"/>
                <a:cs typeface="Lato"/>
                <a:sym typeface="Lato"/>
              </a:rPr>
              <a:t>VALOR PLANEJADO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3829050" y="4878975"/>
            <a:ext cx="175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52.72 Bi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6648450" y="430530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AEEF"/>
                </a:solidFill>
                <a:latin typeface="Lato"/>
                <a:ea typeface="Lato"/>
                <a:cs typeface="Lato"/>
                <a:sym typeface="Lato"/>
              </a:rPr>
              <a:t>VALOR LIQUIDADO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648450" y="4878975"/>
            <a:ext cx="171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49.02 Bi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3612"/>
            <a:ext cx="3492549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33612"/>
            <a:ext cx="3492549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33612"/>
            <a:ext cx="3492549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34E"/>
                </a:solidFill>
                <a:latin typeface="Poppins"/>
                <a:ea typeface="Poppins"/>
                <a:cs typeface="Poppins"/>
                <a:sym typeface="Poppins"/>
              </a:rPr>
              <a:t>Principais Ganhos da Solução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571500"/>
            <a:ext cx="47625" cy="52387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952500" y="3386137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34E"/>
                </a:solidFill>
                <a:latin typeface="Poppins"/>
                <a:ea typeface="Poppins"/>
                <a:cs typeface="Poppins"/>
                <a:sym typeface="Poppins"/>
              </a:rPr>
              <a:t>Custo-Eficiência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952500" y="3862387"/>
            <a:ext cx="27305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Redução drástica de custos ao utilizar Data Lake em vez de bancos SQL tradicionais de alta performance.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4730799" y="3386137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34E"/>
                </a:solidFill>
                <a:latin typeface="Poppins"/>
                <a:ea typeface="Poppins"/>
                <a:cs typeface="Poppins"/>
                <a:sym typeface="Poppins"/>
              </a:rPr>
              <a:t>Performance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4730799" y="3862387"/>
            <a:ext cx="27305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ETL extremamente leve; Power BI consome arquivos já processados e otimizados pelo cluster Spark.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8509099" y="3386137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34E"/>
                </a:solidFill>
                <a:latin typeface="Poppins"/>
                <a:ea typeface="Poppins"/>
                <a:cs typeface="Poppins"/>
                <a:sym typeface="Poppins"/>
              </a:rPr>
              <a:t>Modularidade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509099" y="3862387"/>
            <a:ext cx="27305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Arquitetura replicável para outras Secretarias, bastando ajustar a lógica de extração no Databricks.</a:t>
            </a:r>
            <a:endParaRPr/>
          </a:p>
        </p:txBody>
      </p:sp>
      <p:pic>
        <p:nvPicPr>
          <p:cNvPr descr="image.png" id="197" name="Google Shape;19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7003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70033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700337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234E"/>
                </a:solidFill>
                <a:latin typeface="Poppins"/>
                <a:ea typeface="Poppins"/>
                <a:cs typeface="Poppins"/>
                <a:sym typeface="Poppins"/>
              </a:rPr>
              <a:t>Conclusão e Próximos Passos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571500" y="571500"/>
            <a:ext cx="47625" cy="52387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3090862"/>
            <a:ext cx="55506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34E"/>
                </a:solidFill>
                <a:latin typeface="Poppins"/>
                <a:ea typeface="Poppins"/>
                <a:cs typeface="Poppins"/>
                <a:sym typeface="Poppins"/>
              </a:rPr>
              <a:t>Entrega Consolidada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71500" y="3462337"/>
            <a:ext cx="5286375" cy="1905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571500" y="3671887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Transformação de dados brutos históricos em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inteligência estratégica</a:t>
            </a: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com alta performance e integridade total dos saldos financeiros.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334125" y="3090862"/>
            <a:ext cx="55506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34E"/>
                </a:solidFill>
                <a:latin typeface="Poppins"/>
                <a:ea typeface="Poppins"/>
                <a:cs typeface="Poppins"/>
                <a:sym typeface="Poppins"/>
              </a:rPr>
              <a:t>Evolução: Modelo Multiórgão</a:t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6334125" y="3462337"/>
            <a:ext cx="5286375" cy="1905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6334125" y="3671887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Proposta de centralização técnica em um único cluster, permitindo que diversas secretarias compartilhem a infraestrutura, otimizando recursos estaduais.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